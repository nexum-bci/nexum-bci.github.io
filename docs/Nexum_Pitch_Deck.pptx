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A"/>
              </a:gs>
              <a:gs pos="100000">
                <a:srgbClr val="001834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0" y="-2286000"/>
            <a:ext cx="18288000" cy="1828800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5800" b="1">
                <a:solidFill>
                  <a:srgbClr val="FFFFFF"/>
                </a:solidFill>
                <a:latin typeface="Arial"/>
              </a:defRPr>
            </a:pPr>
            <a:r>
              <a:t>逐念而行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0">
                <a:solidFill>
                  <a:srgbClr val="7DD3FC"/>
                </a:solidFill>
                <a:latin typeface="Arial"/>
              </a:defRPr>
            </a:pPr>
            <a:r>
              <a:t>神经重连AI系统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94760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94A3B8"/>
                </a:solidFill>
                <a:latin typeface="Arial"/>
              </a:defRPr>
            </a:pPr>
            <a:r>
              <a:t>人机共生  ·  从大脑到肌肉的AI  ·  赛道定义者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赵子睿  创始人 &amp; CEO  |  2026年6月  |  种子轮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Confidential — For Investor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9400万人被困在神经损伤里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0A0F1A"/>
                </a:solidFill>
                <a:latin typeface="Arial"/>
              </a:defRPr>
            </a:pPr>
            <a:r>
              <a:t>全球9400万中风幸存者，年新发1200万。其中66%存在步行功能障碍。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问题的本质：大脑还记得怎么走，但指令传不到肌肉。这不是机械问题，是神经连接问题。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现有方案二十年停滞不前：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 外骨骼太重（12–25kg），穿戴痛苦，患者拒绝长期使用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 康复机器人依赖治疗师手动调参，中国每10万人仅3.6名康复治疗师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 SCIRE荟萃分析（2022）：现有外骨骼 vs 传统物理治疗，"证据尚不充分"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•  Ekso FY2025收入$12.8M，SG&amp;A占134%，连续两年下滑——硬件差异化已触天花板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6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根本原因：所有竞品都在把神经损伤当成机械问题来解决。这是一个范式错误。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554480"/>
            <a:ext cx="3017520" cy="1371600"/>
          </a:xfrm>
          <a:prstGeom prst="rect">
            <a:avLst/>
          </a:prstGeom>
          <a:solidFill>
            <a:srgbClr val="E8F4FD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66420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9400万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212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0A0F1A"/>
                </a:solidFill>
                <a:latin typeface="Arial"/>
              </a:defRPr>
            </a:pPr>
            <a:r>
              <a:t>全球中风幸存者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7860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GBD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108960"/>
            <a:ext cx="3017520" cy="1371600"/>
          </a:xfrm>
          <a:prstGeom prst="rect">
            <a:avLst/>
          </a:prstGeom>
          <a:solidFill>
            <a:srgbClr val="E8F4FD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2186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673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0A0F1A"/>
                </a:solidFill>
                <a:latin typeface="Arial"/>
              </a:defRPr>
            </a:pPr>
            <a:r>
              <a:t>步行功能障碍率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1330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World Stroke Org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663440"/>
            <a:ext cx="3017520" cy="1371600"/>
          </a:xfrm>
          <a:prstGeom prst="rect">
            <a:avLst/>
          </a:prstGeom>
          <a:solidFill>
            <a:srgbClr val="E8F4FD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7731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3.6/10万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321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0A0F1A"/>
                </a:solidFill>
                <a:latin typeface="Arial"/>
              </a:defRPr>
            </a:pPr>
            <a:r>
              <a:t>康复治疗师密度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6875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中国 vs 高收入国家10–30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Nexum One：从大脑到肌肉的AI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4748B"/>
                </a:solidFill>
                <a:latin typeface="Arial"/>
              </a:defRPr>
            </a:pPr>
            <a:r>
              <a:t>不卖硬件参数。卖的是AI对"你"的理解能力。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60604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411480" cy="41148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A0F1A"/>
                </a:solidFill>
                <a:latin typeface="Arial"/>
              </a:defRPr>
            </a:pPr>
            <a:r>
              <a:t>读取意图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EEG-Sense 8ch干电极头带(80g)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检测运动准备电位(MRCP)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非侵入，佩戴像运动头带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CMU Bin He Lab 2025验证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920240"/>
            <a:ext cx="260604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92024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7600" y="2084832"/>
            <a:ext cx="411480" cy="41148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A0F1A"/>
                </a:solidFill>
                <a:latin typeface="Arial"/>
              </a:defRPr>
            </a:pPr>
            <a:r>
              <a:t>生成策略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546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个性化AI引擎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416肌肉+206骨骼数字孪生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RL强化学习日产53亿步态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每患者独立策略模型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260604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84832"/>
            <a:ext cx="411480" cy="41148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A0F1A"/>
                </a:solidFill>
                <a:latin typeface="Arial"/>
              </a:defRPr>
            </a:pPr>
            <a:r>
              <a:t>执行动作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NeuroSuit混合架构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碳纤维锚定+线缆驱动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&lt;1.5kg总重, 8Nm持续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穿戴&lt;3分钟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920240"/>
            <a:ext cx="260604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92024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2084832"/>
            <a:ext cx="411480" cy="41148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97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A0F1A"/>
                </a:solidFill>
                <a:latin typeface="Arial"/>
              </a:defRPr>
            </a:pPr>
            <a:r>
              <a:t>持续进化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546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传感器反馈闭环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策略每周自适应更新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联邦学习隐私保护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越多人使用AI越强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为什么是现在？四个条件同时就绪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60604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1664208"/>
            <a:ext cx="457200" cy="45720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非侵入BCI达到可用精度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880360"/>
            <a:ext cx="12801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CMU Bin He Lab 2025 Nature Comms发表非侵入EEG解码精细运动意图。下肢步态离散意图（走/停）已被Gwin, Wagner, Sburlea等多篇独立研究验证。中国2025年3月发布非侵入BCI医疗服务定价¥960–966/次。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554480"/>
            <a:ext cx="260604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55448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664208"/>
            <a:ext cx="457200" cy="45720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可穿戴硬件工程成熟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880360"/>
            <a:ext cx="12801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01752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学术界已验证的混合架构（碳纤维锚定+织物包裹+线缆驱动）：力传输效率&gt;70%，总重&lt;1.5kg。线缆驱动临床安全性经20年验证。柔性织物和轻量化材料不再是瓶颈。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554480"/>
            <a:ext cx="260604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5448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0" y="1664208"/>
            <a:ext cx="457200" cy="45720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个性化AI工程化条件成熟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880360"/>
            <a:ext cx="12801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肌骨模型（416肌肉+206骨骼+Hill型柔顺肌腱）+ GPU并行强化学习（2048仿真世界，日产53亿步态样本，零人工标注）。"为每个患者生成专属康复策略"从学术论文变为可部署软件。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554480"/>
            <a:ext cx="260604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554480"/>
            <a:ext cx="260604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1664208"/>
            <a:ext cx="457200" cy="45720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政策框架全面到位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2880360"/>
            <a:ext cx="12801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3017520"/>
            <a:ext cx="2423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中国脑机接口列入国家未来产业、写入政府工作报告。美国Medicare 2024年建立个人外骨骼支付标准$91,032/台。日本HAL纳入医保。德国裁定扩大外骨骼覆盖。四国已建立支付框架。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这四个条件——感知精度、硬件成熟度、AI工程化、政策框架——缺任何一个，人机共生都是科幻。2026年，四个条件全部就绪。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Nexum One：首款神经重连AI系统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52044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_render_2_headb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32461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33832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A0F1A"/>
                </a:solidFill>
                <a:latin typeface="Arial"/>
              </a:defRPr>
            </a:pPr>
            <a:r>
              <a:t>EEG-Sense 头带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379476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8通道干电极 · 80g</a:t>
            </a:r>
            <a:br/>
            <a:r>
              <a:t>BLE 5.0 · ADS1299芯片</a:t>
            </a:r>
            <a:br/>
            <a:r>
              <a:t>250SPS采样率 · 24-bit</a:t>
            </a:r>
            <a:br/>
            <a:r>
              <a:t>佩戴像运动头带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63040"/>
            <a:ext cx="352044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pt_render_3_su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32461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33832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A0F1A"/>
                </a:solidFill>
                <a:latin typeface="Arial"/>
              </a:defRPr>
            </a:pPr>
            <a:r>
              <a:t>NeuroSuit 穿戴界面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379476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碳纤维髋部锚定</a:t>
            </a:r>
            <a:br/>
            <a:r>
              <a:t>鲍登线缆驱动</a:t>
            </a:r>
            <a:br/>
            <a:r>
              <a:t>&lt;1.5kg 总重</a:t>
            </a:r>
            <a:br/>
            <a:r>
              <a:t>8Nm持续 / 15Nm峰值扭矩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20440" cy="35661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pt_render_1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600200"/>
            <a:ext cx="3246120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5320" y="33832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A0F1A"/>
                </a:solidFill>
                <a:latin typeface="Arial"/>
              </a:defRPr>
            </a:pPr>
            <a:r>
              <a:t>Nexum One 完整系统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79476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EEG头带 + NeuroSuit</a:t>
            </a:r>
            <a:br/>
            <a:r>
              <a:t>+ 控制盒 + App</a:t>
            </a:r>
            <a:br/>
            <a:r>
              <a:t>Clinical版 $18,000</a:t>
            </a:r>
            <a:br/>
            <a:r>
              <a:t>Home版 $3,999+$499/年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8ch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干电极EEG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80g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头带重量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&lt;1.5kg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系统总重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&lt;185ms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端到端延迟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8/15Nm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持续/峰值扭矩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0096F0"/>
                </a:solidFill>
                <a:latin typeface="Arial"/>
              </a:defRPr>
            </a:pPr>
            <a:r>
              <a:t>48Wh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续航&gt;4小时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035040"/>
            <a:ext cx="10728655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096F0"/>
                </a:solidFill>
                <a:latin typeface="Arial"/>
              </a:defRPr>
            </a:pPr>
            <a:r>
              <a:t>同一套AI系统，两个版本，一条数据链：Clinical版$18K（医院）+ Home版$3,999+$499/年（家用）——数据不中断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技术架构：AI驱动的神经重连闭环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64748B"/>
                </a:solidFill>
                <a:latin typeface="Arial"/>
              </a:defRPr>
            </a:pPr>
            <a:r>
              <a:t>四层架构，每层技术均已独立验证。逐念而行的贡献是把它们整合成完整的AI系统。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6916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感知层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48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EEG + sEMG 双模态神经接口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83080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EEG-Sense: 8ch干电极，检测运动准备电位(MRCP)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CMU Bin He 2025 Nature Comms验证非侵入EEG解码可行性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sEMG: 多通道织物电极，&lt;100ms精细力矩解码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三级降级安全: EEG+sEMG → sEMG+IMU → 无助力被动支撑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07792"/>
            <a:ext cx="16916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决策层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192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个性化AI引擎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953512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DL提取EEG特征(CNN/TCN) → MSK数字孪生(416肌肉+206骨骼+Hill肌腱)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→ 2048仿真世界并行RL训练 → 日产53亿步态 → 每患者独立策略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→ 传统控制(PID/MPC)毫秒级安全执行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本周策略与上周不同——因为这个患者的身体已经不同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4"/>
            <a:ext cx="16916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169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执行层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48970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混合式机械架构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123944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碳纤维髋部锚定 → 力传输效率&gt;70%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鲍登线缆驱动 → 电机位于腰部(重心附近)，关节处仅轻量锚点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标准化关节电机 → 扭矩密度40–50Nm/kg，双电机+驱动器+线缆&lt;1.5kg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织物包裹穿戴界面 → 外观像压缩裤，解决穿戴耻感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48656"/>
            <a:ext cx="16916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340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进化层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6601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联邦学习数据飞轮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294376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原始生理信号本地处理 → 仅脱敏模型改善数据上传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联邦学习架构(pFedAC) → 隐私保护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每多一个患者使用 → AI就更理解人 → 产品更强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这是硬件公司无法复制的数据网络效应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市场：TAM随每阶段指数级扩大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466344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1  2028–2030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200" b="1">
                <a:solidFill>
                  <a:srgbClr val="0096F0"/>
                </a:solidFill>
                <a:latin typeface="Arial"/>
              </a:defRPr>
            </a:pPr>
            <a:r>
              <a:t>$6.6B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21945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A0F1A"/>
                </a:solidFill>
                <a:latin typeface="Arial"/>
              </a:defRPr>
            </a:pPr>
            <a:r>
              <a:t>全球神经康复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9400万中风 × 66%障碍 × 30%适配 × 5%渗透 × $3,999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+ 8000家医院 × 10%渗透 × $18K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中国院内首轮TAM $43–65M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程天已验证: 800+医院, 92万人次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474720" cy="466344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2  2030–2033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200" b="1">
                <a:solidFill>
                  <a:srgbClr val="0096F0"/>
                </a:solidFill>
                <a:latin typeface="Arial"/>
              </a:defRPr>
            </a:pPr>
            <a:r>
              <a:t>$15B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743200"/>
            <a:ext cx="21945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A0F1A"/>
                </a:solidFill>
                <a:latin typeface="Arial"/>
              </a:defRPr>
            </a:pPr>
            <a:r>
              <a:t>全球老年行动力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中国3亿60+人口(国家统计局2025)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× 20%肌少症 × 3%渗透 × ¥5,000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+ 美日欧老龄化市场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日本29% 65+, 欧盟21% 65+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474720" cy="4663440"/>
          </a:xfrm>
          <a:prstGeom prst="rect">
            <a:avLst/>
          </a:prstGeom>
          <a:solidFill>
            <a:srgbClr val="E8F4FD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3  2033+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200" b="1">
                <a:solidFill>
                  <a:srgbClr val="0096F0"/>
                </a:solidFill>
                <a:latin typeface="Arial"/>
              </a:defRPr>
            </a:pPr>
            <a:r>
              <a:t>$33.7B+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743200"/>
            <a:ext cx="219456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A0F1A"/>
                </a:solidFill>
                <a:latin typeface="Arial"/>
              </a:defRPr>
            </a:pPr>
            <a:r>
              <a:t>全人群行动增强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全球可穿戴外骨骼市场$33.7B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CAGR 32% (Research &amp; Markets)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户外/通勤/职业防护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人机共生新品类: 增量远超已有市场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373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096F0"/>
                </a:solidFill>
                <a:latin typeface="Arial"/>
              </a:defRPr>
            </a:pPr>
            <a:r>
              <a:t>已有市场: BCI $2.4B(15% CAGR) + 康复机器人 $1.8B(22%) + 外骨骼 $33.7B(32%)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73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全球支付: Medicare $91,032/台 · 中国BCI ¥960–966/次 · 日本医保 · 德国裁定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竞争：我们在"AI理解人"的维度上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1965960"/>
                <a:gridCol w="1965960"/>
                <a:gridCol w="2103120"/>
              </a:tblGrid>
              <a:tr h="467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竞争维度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逐念而行 Nexum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Ekso / ReWalk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HAL (Cyberdyne)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程天科技 UGO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EEG运动意图解码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8ch干电极 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 (仅EMG)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多模态融合 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sEMG神经接口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织物电极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EEG+sEMG双模态融合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独家 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MSK数字孪生建模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416肌肉+Hill肌腱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RL个性化康复策略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每患者独立策略 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联邦学习隐私保护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pFedAC架构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产品价格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$18K / $3,999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$75K–100K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$60K–80K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¥10万+(医院)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核心定位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AI公司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硬件公司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硬件公司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硬件集成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06440"/>
            <a:ext cx="10728655" cy="868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806440"/>
            <a:ext cx="54864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0A0F1A"/>
                </a:solidFill>
                <a:latin typeface="Arial"/>
              </a:defRPr>
            </a:pPr>
            <a:r>
              <a:t>核心差异：Ekso/ReWalk/HAL卖硬件参数——第一万台和第一台没有本质区别。逐念而行卖AI对人的理解——每多一个患者，AI就更强一分。范式竞争，不是参数竞争。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商业模式：硬件入口 + 订阅飞轮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Clinical 设备销售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96F0"/>
                </a:solidFill>
                <a:latin typeface="Arial"/>
              </a:defRPr>
            </a:pPr>
            <a:r>
              <a:t>$18,000/台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5448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B2B高客单价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目标: 三甲医院康复科 + 康复专科医院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中国4,500家目标医院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2029年目标400台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512064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Home 硬件 + 订阅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96F0"/>
                </a:solidFill>
                <a:latin typeface="Arial"/>
              </a:defRPr>
            </a:pPr>
            <a:r>
              <a:t>$3,999 + $499/年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DTC直接触达患者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订阅收入: 持续软件更新 + AI策略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续订率目标 &gt;50%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2031年8,000台×50%=$2M高毛利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512064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SaaS 数据服务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96F0"/>
                </a:solidFill>
                <a:latin typeface="Arial"/>
              </a:defRPr>
            </a:pPr>
            <a:r>
              <a:t>$50,000+/年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720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医院科研协作平台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脱敏数据集 + AI辅助科研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临床试验管理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长尾高毛利收入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02920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361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客户分层与GTM策略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Tier 1: 三甲医院康复科 (中国4,500家) → 直销团队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Tier 2: 康复专科医院 (中国800家) → 直销+学术推广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Tier 3: 居家用户 (2029+) → 线上DTC + 医生推荐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海外: 东南亚+中东代理 → 2029年启动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5029200" cy="256032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单位经济模型（Home版）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BOM成本 (量产@100台)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¥2,980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BOM成本 (量产@1,000台)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¥2,080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首年硬件毛利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~47% (@$3,999)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LTV (3年订阅)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$4,998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CAC (线上DTC)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~$1,200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LTV/CAC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080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~4.2x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五年财务预测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828800"/>
                <a:gridCol w="1828800"/>
                <a:gridCol w="1828800"/>
                <a:gridCol w="1920240"/>
              </a:tblGrid>
              <a:tr h="396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2031</a:t>
                      </a:r>
                    </a:p>
                  </a:txBody>
                  <a:tcPr anchor="ctr">
                    <a:solidFill>
                      <a:srgbClr val="0096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Clinical交付(台)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—（预临床）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150×$16K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400×$15K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1,000×$14K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2,500×$13K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Home交付(台)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100×$4K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500×$3.8K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2,000×$3.5K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8,000×$3.2K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总收入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$2.8M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$7.9M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$21.0M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$58.1M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净利润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A0F1A"/>
                          </a:solidFill>
                          <a:latin typeface="Arial"/>
                        </a:defRPr>
                      </a:pPr>
                      <a:r>
                        <a:t>−$2.5M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−$2.0M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−$0.5M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$3.0M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$15.0M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02336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盈亏平衡点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~700台/年 (2029 Q4–2030 Q1)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Home版BOM成本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¥2,980 (100台量产) → ¥2,080 (1,000台)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Clinical版BOM成本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¥3,280 (100台量产) → ¥2,280 (1,000台)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64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S&amp;M费用占比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645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30% (vs 竞品40–70%，因差异化在软件而非硬件)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Home订阅增量收入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2031年 8,000台 × 50%续订 × $499 = +$2M (高毛利)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120640"/>
            <a:ext cx="53949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研发投入占比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2027: 80% → 2029: 35% → 2031: 15%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57800"/>
            <a:ext cx="10728655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7608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盈亏平衡预计在2029 Q4–2030 Q1达到，年销~700台。净利2027年转正前共需约$5M融资。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团队：六人核心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优先级：临床决定NMPA · EEG决定量产 · 注册决定审评速度 · 设计决定用户留存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6916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783080"/>
            <a:ext cx="502920" cy="50292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赵子睿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0096F0"/>
                </a:solidFill>
                <a:latin typeface="Arial"/>
              </a:defRPr>
            </a:pPr>
            <a:r>
              <a:t>创始人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Columbia EE MSc (ML)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华为美国研究院Futurewei IoT Lab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欣网/智擎CTO 8年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FAI患者——产品原动力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691640"/>
            <a:ext cx="16916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54679" y="1783080"/>
            <a:ext cx="502920" cy="50292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1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汪牧星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1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0096F0"/>
                </a:solidFill>
                <a:latin typeface="Arial"/>
              </a:defRPr>
            </a:pPr>
            <a:r>
              <a:t>算法 · 联邦学习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1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NEU PhD Candidate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Edinburgh MSc Distinction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4748B"/>
                </a:solidFill>
                <a:latin typeface="Arial"/>
              </a:defRPr>
            </a:pPr>
            <a:r>
              <a:t>pFedAC第一作者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8" y="1691640"/>
            <a:ext cx="169164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198" y="1783080"/>
            <a:ext cx="502920" cy="5029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94A3B8"/>
                </a:solidFill>
                <a:latin typeface="Arial"/>
              </a:defRPr>
            </a:pPr>
            <a:r>
              <a:t>临床负责人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招募中 · 最高优先级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0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康复医学主任医师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临床试验设计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NMPA方案撰写经验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7" y="1691640"/>
            <a:ext cx="169164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03717" y="1783080"/>
            <a:ext cx="502920" cy="5029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29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94A3B8"/>
                </a:solidFill>
                <a:latin typeface="Arial"/>
              </a:defRPr>
            </a:pPr>
            <a:r>
              <a:t>EEG硬件负责人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29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招募中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29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脑电采集系统设计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TI ADS1299经验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干电极优化+产品化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6" y="1691640"/>
            <a:ext cx="169164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78236" y="1783080"/>
            <a:ext cx="502920" cy="5029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48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94A3B8"/>
                </a:solidFill>
                <a:latin typeface="Arial"/>
              </a:defRPr>
            </a:pPr>
            <a:r>
              <a:t>NMPA注册负责人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48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招募中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48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二类创新器械注册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ISO 13485体系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创新器械申报经验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15" y="1691640"/>
            <a:ext cx="169164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52755" y="1783080"/>
            <a:ext cx="502920" cy="5029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Arial"/>
              </a:defRPr>
            </a:pPr>
            <a:r>
              <a:t>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67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94A3B8"/>
                </a:solidFill>
                <a:latin typeface="Arial"/>
              </a:defRPr>
            </a:pPr>
            <a:r>
              <a:t>产品设计师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67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招募中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67" y="320040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可穿戴设备工业设计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用户体验研究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94A3B8"/>
                </a:solidFill>
                <a:latin typeface="Arial"/>
              </a:defRPr>
            </a:pPr>
            <a:r>
              <a:t>穿戴体验=留存关键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120640"/>
            <a:ext cx="10728655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193792"/>
            <a:ext cx="10454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A0F1A"/>
                </a:solidFill>
                <a:latin typeface="Arial"/>
              </a:defRPr>
            </a:pPr>
            <a:r>
              <a:t>学术合作网络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532120"/>
            <a:ext cx="10454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CMU Bin He Lab (非侵入EEG运动解码) · NEU NeuMove Lab (肌骨仿真) · 清华/浙大/西湖大学 (BCI与神经工程)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52160"/>
            <a:ext cx="10454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杨朋昆 (清华统计系副教授, pFedAC共同作者) · 苏丽丽 (NEU助理教授, NSF CAREER, 联邦学习)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融资路线：每轮对应可验证里程碑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606040" cy="475488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A0F1A"/>
                </a:solidFill>
                <a:latin typeface="Arial"/>
              </a:defRPr>
            </a:pPr>
            <a:r>
              <a:t>种子轮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2026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¥800万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4320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原型2台(¥200万)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团队8人12月(¥300万)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预临床启动(¥200万)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运营储备(¥100万)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096F0"/>
                </a:solidFill>
                <a:latin typeface="Arial"/>
              </a:defRPr>
            </a:pPr>
            <a:r>
              <a:t>产出里程碑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90872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可演示原型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3家医院预临床协议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NMPA分类界定申请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1554480"/>
            <a:ext cx="2606040" cy="475488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A0F1A"/>
                </a:solidFill>
                <a:latin typeface="Arial"/>
              </a:defRPr>
            </a:pPr>
            <a:r>
              <a:t>天使轮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011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2027 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2860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¥2,500万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74320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880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用途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154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10台样机(¥500万)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429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团队12人18月(¥800万)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703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30例预临床(¥600万)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77639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NMPA申报(¥300万)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34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096F0"/>
                </a:solidFill>
                <a:latin typeface="Arial"/>
              </a:defRPr>
            </a:pPr>
            <a:r>
              <a:t>产出里程碑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4690872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709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预临床数据发表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NMPA创新器械正式受理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554480"/>
            <a:ext cx="2606040" cy="475488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A0F1A"/>
                </a:solidFill>
                <a:latin typeface="Arial"/>
              </a:defRPr>
            </a:pPr>
            <a:r>
              <a:t>Pre-A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011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2028 Q1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2860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$7M (≈¥5,000万)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74320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880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用途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154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量产备货(¥2,000万)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429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50家医院渠道(¥1,500万)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703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Home版发布(¥1,000万)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977639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团队30人(¥500万)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434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096F0"/>
                </a:solidFill>
                <a:latin typeface="Arial"/>
              </a:defRPr>
            </a:pPr>
            <a:r>
              <a:t>产出里程碑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690872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709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NMPA获批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首批商业化交付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•  年收入$2.8M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1554480"/>
            <a:ext cx="2606040" cy="4754880"/>
          </a:xfrm>
          <a:prstGeom prst="rect">
            <a:avLst/>
          </a:prstGeom>
          <a:solidFill>
            <a:srgbClr val="E8F4FD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A0F1A"/>
                </a:solidFill>
                <a:latin typeface="Arial"/>
              </a:defRPr>
            </a:pPr>
            <a:r>
              <a:t>A轮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011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2029 H2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2860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0096F0"/>
                </a:solidFill>
                <a:latin typeface="Arial"/>
              </a:defRPr>
            </a:pPr>
            <a:r>
              <a:t>$20M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743200"/>
            <a:ext cx="2057400" cy="127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8803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A0F1A"/>
                </a:solidFill>
                <a:latin typeface="Arial"/>
              </a:defRPr>
            </a:pPr>
            <a:r>
              <a:t>用途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154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FDA 510(k)+CE申报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4290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海外渠道建设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703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规模化生产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977639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团队50人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434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>
                <a:solidFill>
                  <a:srgbClr val="0096F0"/>
                </a:solidFill>
                <a:latin typeface="Arial"/>
              </a:defRPr>
            </a:pPr>
            <a:r>
              <a:t>产出里程碑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20" y="4690872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81160" y="4709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0A0F1A"/>
                </a:solidFill>
                <a:latin typeface="Arial"/>
              </a:defRPr>
            </a:pPr>
            <a:r>
              <a:t>•  海外准入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0A0F1A"/>
                </a:solidFill>
                <a:latin typeface="Arial"/>
              </a:defRPr>
            </a:pPr>
            <a:r>
              <a:t>•  年销过千台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0A0F1A"/>
                </a:solidFill>
                <a:latin typeface="Arial"/>
              </a:defRPr>
            </a:pPr>
            <a:r>
              <a:t>•  盈亏平衡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641908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当前：种子轮¥800万寻找领投方。12个月可验证的技术里程碑 → 原型可演示 → 预临床数据 → 为天使轮¥2,500万建立定价基础。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F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0A0F1A"/>
                </a:solidFill>
                <a:latin typeface="Arial"/>
              </a:defRPr>
            </a:pPr>
            <a:r>
              <a:t>路线图：2026–2031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645920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728655" cy="381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3063240"/>
            <a:ext cx="274320" cy="27432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" b="1">
                <a:solidFill>
                  <a:srgbClr val="0096F0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A0F1A"/>
                </a:solidFill>
                <a:latin typeface="Arial"/>
              </a:defRPr>
            </a:pPr>
            <a:r>
              <a:t>研发与验证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920240" cy="256032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种子轮关闭, 团队组建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功能原型完成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预临床启动 (3家医院)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NMPA创新器械认定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30例预临床数据发表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3063240"/>
            <a:ext cx="274320" cy="27432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" b="1">
                <a:solidFill>
                  <a:srgbClr val="0096F0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783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2028–2029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A0F1A"/>
                </a:solidFill>
                <a:latin typeface="Arial"/>
              </a:defRPr>
            </a:pPr>
            <a:r>
              <a:t>获批与商业化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566160"/>
            <a:ext cx="1920240" cy="256032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61188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注册检验完成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NMPA获批 (二类创新)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首批Clinical交付150台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Home版正式发布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盈亏平衡 (~700台/年)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063240"/>
            <a:ext cx="274320" cy="274320"/>
          </a:xfrm>
          <a:prstGeom prst="ellipse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" b="1">
                <a:solidFill>
                  <a:srgbClr val="0096F0"/>
                </a:solidFill>
                <a:latin typeface="Arial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669280" y="1554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783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2030–2031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A0F1A"/>
                </a:solidFill>
                <a:latin typeface="Arial"/>
              </a:defRPr>
            </a:pPr>
            <a:r>
              <a:t>规模化与国际化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566160"/>
            <a:ext cx="1920240" cy="2560320"/>
          </a:xfrm>
          <a:prstGeom prst="rect">
            <a:avLst/>
          </a:prstGeom>
          <a:solidFill>
            <a:srgbClr val="F1F5F9"/>
          </a:solidFill>
          <a:ln w="6350">
            <a:solidFill>
              <a:srgbClr val="00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61188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" b="0">
                <a:solidFill>
                  <a:srgbClr val="94A3B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年销10,000+台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FDA 510(k) 提交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CE认证启动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东南亚+中东渠道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64748B"/>
                </a:solidFill>
                <a:latin typeface="Arial"/>
              </a:defRPr>
            </a:pPr>
            <a:r>
              <a:t>•  启动全人群行动增强市场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7336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0096F0"/>
                </a:solidFill>
                <a:latin typeface="Arial"/>
              </a:defRPr>
            </a:pPr>
            <a:r>
              <a:t>每18个月一个里程碑审查节点，融资节奏与产品节奏对齐，减少不必要的稀释。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A"/>
              </a:gs>
              <a:gs pos="100000">
                <a:srgbClr val="00205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2026年，AI从数字世界进入了物理世界。</a:t>
            </a:r>
            <a:br/>
            <a:r>
              <a:t>逐念而行专注于其中尚未被充分探索的方向——</a:t>
            </a:r>
            <a:br/>
            <a:r>
              <a:t>让AI理解人的身体，而不只是造AI的机器身体。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2540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280160" cy="36576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278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2026–2028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DD3FC"/>
                </a:solidFill>
                <a:latin typeface="Arial"/>
              </a:defRPr>
            </a:pPr>
            <a:r>
              <a:t>定义品类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5468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100家医院 · 30例预临床 → 200例上市后研究</a:t>
            </a:r>
            <a:br/>
            <a:r>
              <a:t>临床论文 → 进入康复指南</a:t>
            </a:r>
            <a:br/>
            <a:r>
              <a:t>让"人机共生"出现在顶级期刊和政策文件中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1280160" cy="36576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336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2029–2030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DD3FC"/>
                </a:solidFill>
                <a:latin typeface="Arial"/>
              </a:defRPr>
            </a:pPr>
            <a:r>
              <a:t>品类扩展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16052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医院→家庭闭环 · 从神经重连到通用意图驱动助力</a:t>
            </a:r>
            <a:br/>
            <a:r>
              <a:t>中国3亿60+老人，老年行动力市场</a:t>
            </a:r>
            <a:br/>
            <a:r>
              <a:t>启动FDA + CE，海外准入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280160" cy="365760"/>
          </a:xfrm>
          <a:prstGeom prst="rect">
            <a:avLst/>
          </a:prstGeom>
          <a:solidFill>
            <a:srgbClr val="00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395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2031+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7DD3FC"/>
                </a:solidFill>
                <a:latin typeface="Arial"/>
              </a:defRPr>
            </a:pPr>
            <a:r>
              <a:t>成为基础设施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16636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百万用户 · 从修复到增强</a:t>
            </a:r>
            <a:br/>
            <a:r>
              <a:t>户外运动 · 都市通勤 · 职业防护</a:t>
            </a:r>
            <a:br/>
            <a:r>
              <a:t>人机共生像智能手机一样成为日常生活一部分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669280"/>
            <a:ext cx="7589520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74243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逐念而行 · Nexum  |  人机共生赛道定义者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614476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7DD3FC"/>
                </a:solidFill>
                <a:latin typeface="Arial"/>
              </a:defRPr>
            </a:pPr>
            <a:r>
              <a:t>赵子睿  ·  zirui@nexum.ai  ·  Columbia EE MSc  ·  种子轮 ¥800万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