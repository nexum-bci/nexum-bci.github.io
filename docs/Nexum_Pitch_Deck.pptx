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A3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0" y="-1828800"/>
            <a:ext cx="16459200" cy="1645920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6000" b="1">
                <a:solidFill>
                  <a:srgbClr val="FFFFFF"/>
                </a:solidFill>
                <a:latin typeface="Arial"/>
              </a:defRPr>
            </a:pPr>
            <a:r>
              <a:t>逐念而行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200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0">
                <a:solidFill>
                  <a:srgbClr val="7DD3FC"/>
                </a:solidFill>
                <a:latin typeface="Arial"/>
              </a:defRPr>
            </a:pPr>
            <a:r>
              <a:t>神经重连AI系统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93192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94A3B8"/>
                </a:solidFill>
                <a:latin typeface="Arial"/>
              </a:defRPr>
            </a:pPr>
            <a:r>
              <a:t>人机共生  ·  从大脑到肌肉的AI  ·  赛道定义者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64748B"/>
                </a:solidFill>
                <a:latin typeface="Arial"/>
              </a:defRPr>
            </a:pPr>
            <a:r>
              <a:t>赵子睿  创始人 &amp; CEO  |  2026年6月  |  种子轮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Confidential — For Investor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42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9400万人被困在神经损伤里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全球9400万中风幸存者，年新发1200万。其中66%存在步行功能障碍。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问题的本质：大脑还记得怎么走，但指令传不到肌肉。这不是机械问题，是神经连接问题。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现有方案二十年停滞不前：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• 外骨骼太重（12–25kg），穿戴痛苦，患者拒绝长期使用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• 康复机器人依赖治疗师手动调参，中国每10万人仅3.6名康复治疗师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• SCIRE荟萃分析（2022）：现有外骨骼 vs 传统物理治疗，"证据尚不充分"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• Ekso FY2025收入$12.8M，SG&amp;A占134%，连续两年下滑——硬件差异化已触天花板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根本原因：所有竞品都在把神经损伤当成机械问题来解决。这是一个范式错误。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828800"/>
            <a:ext cx="2743200" cy="128016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0" y="1828800"/>
            <a:ext cx="27432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9202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000" b="1">
                <a:solidFill>
                  <a:srgbClr val="0096F0"/>
                </a:solidFill>
                <a:latin typeface="Arial"/>
              </a:defRPr>
            </a:pPr>
            <a:r>
              <a:t>9400万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全球中风幸存者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889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GBD 2021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291840"/>
            <a:ext cx="2743200" cy="128016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3291840"/>
            <a:ext cx="27432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3383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000" b="1">
                <a:solidFill>
                  <a:srgbClr val="0096F0"/>
                </a:solidFill>
                <a:latin typeface="Arial"/>
              </a:defRPr>
            </a:pPr>
            <a:r>
              <a:t>66%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9319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步行功能障碍率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42519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World Stroke Org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754880"/>
            <a:ext cx="2743200" cy="128016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4754880"/>
            <a:ext cx="27432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46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3000" b="1">
                <a:solidFill>
                  <a:srgbClr val="0096F0"/>
                </a:solidFill>
                <a:latin typeface="Arial"/>
              </a:defRPr>
            </a:pPr>
            <a:r>
              <a:t>3.6/10万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394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康复治疗师密度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15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中国 vs 高收入国家10-30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63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Nexum One：从大脑到肌肉的AI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7DD3FC"/>
                </a:solidFill>
                <a:latin typeface="Arial"/>
              </a:defRPr>
            </a:pPr>
            <a:r>
              <a:t>不卖硬件参数。卖的是AI对"你"的理解能力。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读取意图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EEG-Sense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8ch干电极头带(80g)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检测运动准备电位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非侵入，像运动头带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044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生成策略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个性化AI引擎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416肌肉+206骨骼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数字孪生+RL策略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每患者独立模型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执行动作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NeuroSuit混合架构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碳纤维锚定+线缆驱动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&lt;1.5kg, 8Nm持续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穿戴&lt;3分钟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1828800"/>
            <a:ext cx="2560320" cy="4389120"/>
          </a:xfrm>
          <a:prstGeom prst="roundRect">
            <a:avLst>
              <a:gd name="adj" fmla="val 3000"/>
            </a:avLst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82880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98280" y="1965960"/>
            <a:ext cx="411480" cy="41148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199339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持续进化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3063240"/>
            <a:ext cx="2286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传感器反馈闭环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策略每周自适应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联邦学习隐私保护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越多人用AI越强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7DD3FC"/>
                </a:solidFill>
                <a:latin typeface="Arial"/>
              </a:defRPr>
            </a:pPr>
            <a:r>
              <a:t>1960年，Licklider预言"人机共生"。等了66年，2026年四个前提全部就绪——9400万人的问题从科学问题变成了工程问题。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Arial"/>
              </a:defRPr>
            </a:pPr>
            <a:r>
              <a:t>为什么是现在？四个条件同时就绪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Arial"/>
              </a:defRPr>
            </a:pPr>
            <a: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Arial"/>
              </a:defRPr>
            </a:pPr>
            <a:r>
              <a:t>非侵入BCI</a:t>
            </a:r>
            <a:br/>
            <a:r>
              <a:t>达到可用精度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CMU Bin He Lab 2025 Nature Comms发表非侵入EEG解码精细运动意图的突破性成果。下肢步态离散意图（走/停）已被Gwin, Wagner, Sburlea等多篇独立研究验证。中国2025年3月发布非侵入BCI医疗服务定价¥960-966/次（湖北/江苏/浙江）。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Arial"/>
              </a:defRPr>
            </a:pPr>
            <a:r>
              <a:t>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Arial"/>
              </a:defRPr>
            </a:pPr>
            <a:r>
              <a:t>可穿戴硬件</a:t>
            </a:r>
            <a:br/>
            <a:r>
              <a:t>工程成熟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学术界已验证的混合架构（碳纤维锚定+织物包裹+线缆驱动）：力传输效率&gt;70%，总重&lt;1.5kg。线缆驱动临床安全性经20年积累。柔性织物和轻量化材料不再是瓶颈。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Arial"/>
              </a:defRPr>
            </a:pPr>
            <a:r>
              <a:t>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Arial"/>
              </a:defRPr>
            </a:pPr>
            <a:r>
              <a:t>个性化AI</a:t>
            </a:r>
            <a:br/>
            <a:r>
              <a:t>工程化条件成熟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肌骨模型（416肌肉+206骨骼+Hill型柔顺肌腱）+ GPU并行强化学习（2048仿真世界，日产53亿步态样本，零人工标注）。"为每个患者生成专属康复策略"从学术论文变为可部署软件。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94A3B8"/>
                </a:solidFill>
                <a:latin typeface="Arial"/>
              </a:defRPr>
            </a:pPr>
            <a:r>
              <a:t>⚖️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194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151D2E"/>
                </a:solidFill>
                <a:latin typeface="Arial"/>
              </a:defRPr>
            </a:pPr>
            <a:r>
              <a:t>政策框架</a:t>
            </a:r>
            <a:br/>
            <a:r>
              <a:t>全面到位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788920"/>
            <a:ext cx="100584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中国2025年脑机接口列入国家未来产业、写入政府工作报告。美国Medicare 2024年建立个人外骨骼支付标准$91,032/台。日本HAL纳入医保。德国裁定扩大外骨骼覆盖。中美日德已建立支付框架。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0096F0"/>
                </a:solidFill>
                <a:latin typeface="Arial"/>
              </a:defRPr>
            </a:pPr>
            <a:r>
              <a:t>这四个条件——感知精度、硬件成熟度、AI工程化、政策框架——缺任何一个，人机共生都是科幻。2026年，四个条件全部就绪。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834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Nexum One：首款神经重连AI系统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474720" cy="38404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6304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pt_render_2_head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32004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EEG-Sense 头带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4069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8通道干电极 · 80g</a:t>
            </a:r>
            <a:br/>
            <a:r>
              <a:t>BLE 5.0 · ADS1299</a:t>
            </a:r>
            <a:br/>
            <a:r>
              <a:t>250SPS · 24-bit</a:t>
            </a:r>
            <a:br/>
            <a:r>
              <a:t>外观像运动头带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474720" cy="38404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pt_render_3_s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00200"/>
            <a:ext cx="320040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484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NeuroSuit 穿戴界面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4069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2062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碳纤维锚定</a:t>
            </a:r>
            <a:br/>
            <a:r>
              <a:t>鲍登线缆驱动</a:t>
            </a:r>
            <a:br/>
            <a:r>
              <a:t>&lt;1.5kg 总重</a:t>
            </a:r>
            <a:br/>
            <a:r>
              <a:t>8Nm持续 / 15Nm峰值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463040"/>
            <a:ext cx="3474720" cy="38404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46304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pt_render_1_syste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3200400" cy="1828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3816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Nexum One 完整系统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32520" y="4069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42062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EEG头带 + NeuroSuit</a:t>
            </a:r>
            <a:br/>
            <a:r>
              <a:t>+ 控制盒 + App</a:t>
            </a:r>
            <a:br/>
            <a:r>
              <a:t>Clinical $18,000</a:t>
            </a:r>
            <a:br/>
            <a:r>
              <a:t>Home $3,999+$499/年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Arial"/>
              </a:defRPr>
            </a:pPr>
            <a:r>
              <a:t>8ch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干电极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Arial"/>
              </a:defRPr>
            </a:pPr>
            <a:r>
              <a:t>80g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头带重量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Arial"/>
              </a:defRPr>
            </a:pPr>
            <a:r>
              <a:t>&lt;1.5kg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系统总重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Arial"/>
              </a:defRPr>
            </a:pPr>
            <a:r>
              <a:t>&lt;185ms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端到端延迟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Arial"/>
              </a:defRPr>
            </a:pPr>
            <a:r>
              <a:t>8/15Nm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持续/峰值扭矩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557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000" b="1">
                <a:solidFill>
                  <a:srgbClr val="0096F0"/>
                </a:solidFill>
                <a:latin typeface="Arial"/>
              </a:defRPr>
            </a:pPr>
            <a:r>
              <a:t>48Wh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5943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电池续航&gt;4h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7DD3FC"/>
                </a:solidFill>
                <a:latin typeface="Arial"/>
              </a:defRPr>
            </a:pPr>
            <a:r>
              <a:t>同一套AI系统，两个版本，一条数据链：Clinical版$18K（医院）+ Home版$3,999+$499/年（家用）——数据不中断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Arial"/>
              </a:defRPr>
            </a:pPr>
            <a:r>
              <a:t>市场：TAM随每阶段指数级扩大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34747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94A3B8"/>
                </a:solidFill>
                <a:latin typeface="Arial"/>
              </a:defRPr>
            </a:pPr>
            <a:r>
              <a:t>Phase 1  2028–2030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400" b="1">
                <a:solidFill>
                  <a:srgbClr val="0096F0"/>
                </a:solidFill>
                <a:latin typeface="Arial"/>
              </a:defRPr>
            </a:pPr>
            <a:r>
              <a:t>$6.6B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017520"/>
            <a:ext cx="219456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51D2E"/>
                </a:solidFill>
                <a:latin typeface="Arial"/>
              </a:defRPr>
            </a:pPr>
            <a:r>
              <a:t>全球神经康复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66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9400万中风×66%障碍×30%适配</a:t>
            </a:r>
            <a:br/>
            <a:r>
              <a:t>×5%渗透×$3,999 + 8000家医院</a:t>
            </a:r>
            <a:br/>
            <a:r>
              <a:t>×10%×$18K</a:t>
            </a:r>
            <a:br/>
            <a:br/>
            <a:r>
              <a:t>中国院内首轮TAM $43-65M</a:t>
            </a:r>
            <a:br/>
            <a:r>
              <a:t>程天已验证: 800+医院, 92万人次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645920"/>
            <a:ext cx="34747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737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94A3B8"/>
                </a:solidFill>
                <a:latin typeface="Arial"/>
              </a:defRPr>
            </a:pPr>
            <a:r>
              <a:t>Phase 2  2030–2033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286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400" b="1">
                <a:solidFill>
                  <a:srgbClr val="0096F0"/>
                </a:solidFill>
                <a:latin typeface="Arial"/>
              </a:defRPr>
            </a:pPr>
            <a:r>
              <a:t>$15B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3017520"/>
            <a:ext cx="219456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51D2E"/>
                </a:solidFill>
                <a:latin typeface="Arial"/>
              </a:defRPr>
            </a:pPr>
            <a:r>
              <a:t>全球老年行动力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566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中国3亿60+人口(国家统计局2025)</a:t>
            </a:r>
            <a:br/>
            <a:r>
              <a:t>×20%肌少症×3%渗透×¥5,000</a:t>
            </a:r>
            <a:br/>
            <a:r>
              <a:t>+美日欧老龄化市场</a:t>
            </a:r>
            <a:br/>
            <a:r>
              <a:t>(日本29% 65+, 欧盟21% 65+)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45920"/>
            <a:ext cx="3474720" cy="45720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1645920"/>
            <a:ext cx="34747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7373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94A3B8"/>
                </a:solidFill>
                <a:latin typeface="Arial"/>
              </a:defRPr>
            </a:pPr>
            <a:r>
              <a:t>Phase 3  2033+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2860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4400" b="1">
                <a:solidFill>
                  <a:srgbClr val="0096F0"/>
                </a:solidFill>
                <a:latin typeface="Arial"/>
              </a:defRPr>
            </a:pPr>
            <a:r>
              <a:t>$33.7B+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017520"/>
            <a:ext cx="219456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51D2E"/>
                </a:solidFill>
                <a:latin typeface="Arial"/>
              </a:defRPr>
            </a:pPr>
            <a:r>
              <a:t>全人群行动增强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566160"/>
            <a:ext cx="3200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全球可穿戴外骨骼市场$33.7B</a:t>
            </a:r>
            <a:br/>
            <a:r>
              <a:t>CAGR 32% (Research &amp; Markets)</a:t>
            </a:r>
            <a:br/>
            <a:r>
              <a:t>户外/通勤/职业防护</a:t>
            </a:r>
            <a:br/>
            <a:r>
              <a:t>人机共生新品类: 增量远超已有</a:t>
            </a:r>
            <a:br/>
            <a:r>
              <a:t>市场报告(如手机&gt;&gt;手机+MP3)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00800"/>
            <a:ext cx="10515600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4465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1">
                <a:solidFill>
                  <a:srgbClr val="0096F0"/>
                </a:solidFill>
                <a:latin typeface="Arial"/>
              </a:defRPr>
            </a:pPr>
            <a:r>
              <a:t>已有市场: BCI $2.4B(15% CAGR) + 康复机器人 $1.8B(22%) + 外骨骼 $33.7B(32%)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465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64748B"/>
                </a:solidFill>
                <a:latin typeface="Arial"/>
              </a:defRPr>
            </a:pPr>
            <a:r>
              <a:t>全球支付: Medicare $91,032/台 · 中国BCI ¥960-966/次 · 日本医保 · 德国裁定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42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技术架构：AI驱动的神经重连闭环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94A3B8"/>
                </a:solidFill>
                <a:latin typeface="Arial"/>
              </a:defRPr>
            </a:pPr>
            <a:r>
              <a:t>四层架构，每层技术均已独立验证。逐念而行的贡献是把它们整合成完整的AI系统。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3736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737360"/>
            <a:ext cx="18288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105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感知层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EEG + sEMG 双模态神经接口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82880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EEG-Sense: 8ch干电极，检测运动准备电位(MRCP)</a:t>
            </a:r>
            <a:br/>
            <a:r>
              <a:t>CMU Bin He 2025 Nature Comms验证非侵入EEG解码可行性</a:t>
            </a:r>
            <a:br/>
            <a:r>
              <a:t>sEMG: 多通道织物电极，&lt;100ms精细力矩解码</a:t>
            </a:r>
            <a:br/>
            <a:r>
              <a:t>三级降级安全: EEG+sEMG → sEMG+IMU → 无助力被动支撑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97180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971800"/>
            <a:ext cx="18288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449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决策层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37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个性化AI引擎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06324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DL提取EEG特征(CNN/TCN) → MSK数字孪生(416肌肉+206骨骼+Hill肌腱)</a:t>
            </a:r>
            <a:br/>
            <a:r>
              <a:t>→ 2048仿真世界并行RL训练 → 日产53亿步态 → 每患者独立策略</a:t>
            </a:r>
            <a:br/>
            <a:r>
              <a:t>→ 传统控制(PID/MPC)毫秒级安全执行</a:t>
            </a:r>
            <a:br/>
            <a:r>
              <a:t>本周策略与上周不同——因为这个患者的身体已经不同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0624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4206240"/>
            <a:ext cx="18288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7939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执行层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72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混合式机械架构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29768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碳纤维髋部锚定 → 力传输效率&gt;70%</a:t>
            </a:r>
            <a:br/>
            <a:r>
              <a:t>鲍登线缆驱动 → 电机位于腰部(重心附近)，关节处仅轻量锚点</a:t>
            </a:r>
            <a:br/>
            <a:r>
              <a:t>标准化关节电机 → 扭矩密度40-50Nm/kg，双电机+驱动器+线缆&lt;1.5kg</a:t>
            </a:r>
            <a:br/>
            <a:r>
              <a:t>织物包裹穿戴界面 → 外观像压缩裤，解决穿戴耻感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40680"/>
            <a:ext cx="1828800" cy="109728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5440680"/>
            <a:ext cx="1828800" cy="38100"/>
          </a:xfrm>
          <a:prstGeom prst="rect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138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7DD3FC"/>
                </a:solidFill>
                <a:latin typeface="Arial"/>
              </a:defRPr>
            </a:pPr>
            <a:r>
              <a:t>进化层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0644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联邦学习数据飞轮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553212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原始生理信号本地处理 → 仅脱敏模型改善数据上传</a:t>
            </a:r>
            <a:br/>
            <a:r>
              <a:t>联邦学习架构(pFedAC) → 隐私保护</a:t>
            </a:r>
            <a:br/>
            <a:r>
              <a:t>每多一个患者使用 → AI就更理解人 → 产品更强</a:t>
            </a:r>
            <a:br/>
            <a:r>
              <a:t>这是硬件公司无法复制的数据网络效应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Arial"/>
              </a:defRPr>
            </a:pPr>
            <a:r>
              <a:t>竞争：我们在AI理解人的维度上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10515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920240"/>
                <a:gridCol w="1920240"/>
                <a:gridCol w="2011680"/>
              </a:tblGrid>
              <a:tr h="4368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竞争维度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逐念而行 Nexum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Ekso / ReWalk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HAL (Cyberdyne)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程天科技 UGO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EEG运动意图解码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8ch干电极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 (仅EMG)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多模态融合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sEMG神经接口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织物电极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</a:t>
                      </a:r>
                    </a:p>
                  </a:txBody>
                  <a:tcPr anchor="ctr"/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EEG+sEMG双模态融合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独家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MSK数字孪生建模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416肌肉+Hill肌腱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RL个性化康复策略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每患者独立策略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联邦学习隐私保护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✅ pFedAC架构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❌</a:t>
                      </a:r>
                    </a:p>
                  </a:txBody>
                  <a:tcPr anchor="ctr"/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产品价格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$18K / $3,999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$75K–100K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$60K–80K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¥10万+(医院)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核心定位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AI公司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硬件公司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硬件公司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硬件集成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760720"/>
            <a:ext cx="10515600" cy="9144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5760720"/>
            <a:ext cx="1051560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1">
                <a:solidFill>
                  <a:srgbClr val="151D2E"/>
                </a:solidFill>
                <a:latin typeface="Arial"/>
              </a:defRPr>
            </a:pPr>
            <a:r>
              <a:t>核心差异：Ekso/ReWalk/HAL卖硬件参数——第一万台和第一台没有本质区别。逐念而行卖AI对人的理解——每多一个患者，AI就更强一分。范式竞争，不是参数竞争。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834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商业模式与五年财务预测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7160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828800"/>
                <a:gridCol w="1828800"/>
                <a:gridCol w="1828800"/>
                <a:gridCol w="2103120"/>
              </a:tblGrid>
              <a:tr h="4267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2027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2028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2029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2030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2031</a:t>
                      </a:r>
                    </a:p>
                  </a:txBody>
                  <a:tcPr anchor="ctr">
                    <a:solidFill>
                      <a:srgbClr val="0096F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Clinical交付(台)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—（预临床）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150×$16K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400×$15K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1,000×$14K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2,500×$13K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Home交付(台)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100×$4K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500×$3.8K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2,000×$3.5K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8,000×$3.2K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总收入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$2.8M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$7.9M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$21.0M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$58.1M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毛利率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52%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58%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68%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净利润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-$2.5M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-$2.0M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-$0.5M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$3.0M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Inter"/>
                        </a:defRPr>
                      </a:pPr>
                      <a:r>
                        <a:t>$15.0M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盈亏平衡点: ~700台/年 (2029 Q4–2030 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Home版BOM成本: ¥2,980 (量产@100台) → ¥2,080 (@1000台)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800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Clinical版BOM成本: ¥3,280 (量产@100台) → ¥2,280 (@1000台)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4800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S&amp;M占比: 30% (vs 竞品40–70%，因差异化在软件)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3949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Home订阅收入(额外): 2031年8,000台×50%续订×$499 = +$2M高毛利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142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0096F0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FFFFFF"/>
                </a:solidFill>
                <a:latin typeface="Arial"/>
              </a:defRPr>
            </a:pPr>
            <a:r>
              <a:t>团队：六人核心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7DD3FC"/>
                </a:solidFill>
                <a:latin typeface="Arial"/>
              </a:defRPr>
            </a:pPr>
            <a:r>
              <a:t>优先级：临床决定NMPA · EEG决定量产 · 注册决定审评速度 · 设计决定用户留存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169164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737360"/>
            <a:ext cx="548640" cy="54864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赵子睿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0096F0"/>
                </a:solidFill>
                <a:latin typeface="Arial"/>
              </a:defRPr>
            </a:pPr>
            <a:r>
              <a:t>创始人 &amp; CEO</a:t>
            </a:r>
            <a:br/>
            <a:r>
              <a:t>产品/架构/技术方向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94A3B8"/>
                </a:solidFill>
                <a:latin typeface="Arial"/>
              </a:defRPr>
            </a:pPr>
            <a:r>
              <a:t>Columbia EE MSc (ML)</a:t>
            </a:r>
            <a:br/>
            <a:r>
              <a:t>华为美国研究院Futurewei IoT Lab</a:t>
            </a:r>
            <a:br/>
            <a:r>
              <a:t>欣网/智擎CTO 8年</a:t>
            </a:r>
            <a:br/>
            <a:r>
              <a:t>FAI患者——产品原动力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79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68879" y="1645920"/>
            <a:ext cx="169164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17519" y="1737360"/>
            <a:ext cx="548640" cy="548640"/>
          </a:xfrm>
          <a:prstGeom prst="ellipse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7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19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汪牧星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19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0096F0"/>
                </a:solidFill>
                <a:latin typeface="Arial"/>
              </a:defRPr>
            </a:pPr>
            <a:r>
              <a:t>算法</a:t>
            </a:r>
            <a:br/>
            <a:r>
              <a:t>联邦学习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19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94A3B8"/>
                </a:solidFill>
                <a:latin typeface="Arial"/>
              </a:defRPr>
            </a:pPr>
            <a:r>
              <a:t>NEU PhD Candidate</a:t>
            </a:r>
            <a:br/>
            <a:r>
              <a:t>Edinburgh MSc Distinction</a:t>
            </a:r>
            <a:br/>
            <a:r>
              <a:t>pFedAC第一作者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398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398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92038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6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8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Arial"/>
              </a:defRPr>
            </a:pPr>
            <a:r>
              <a:t>临床负责人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38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招募中</a:t>
            </a:r>
            <a:br/>
            <a:r>
              <a:t>优先级最高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38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康复医学主任医师</a:t>
            </a:r>
            <a:br/>
            <a:r>
              <a:t>临床试验设计</a:t>
            </a:r>
            <a:br/>
            <a:r>
              <a:t>NMPA方案撰写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17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17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766557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5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57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Arial"/>
              </a:defRPr>
            </a:pPr>
            <a:r>
              <a:t>EEG硬件负责人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7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招募中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7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脑电采集系统设计</a:t>
            </a:r>
            <a:br/>
            <a:r>
              <a:t>TI ADS1299经验</a:t>
            </a:r>
            <a:br/>
            <a:r>
              <a:t>干电极优化+产品化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36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92436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41076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59364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76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Arial"/>
              </a:defRPr>
            </a:pPr>
            <a:r>
              <a:t>NMPA注册负责人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6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招募中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76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二类创新器械注册</a:t>
            </a:r>
            <a:br/>
            <a:r>
              <a:t>ISO 13485体系</a:t>
            </a:r>
            <a:br/>
            <a:r>
              <a:t>创新器械申报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66955" y="1645920"/>
            <a:ext cx="1691640" cy="3291840"/>
          </a:xfrm>
          <a:prstGeom prst="roundRect">
            <a:avLst>
              <a:gd name="adj" fmla="val 3000"/>
            </a:avLst>
          </a:prstGeom>
          <a:solidFill>
            <a:srgbClr val="22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66955" y="1645920"/>
            <a:ext cx="1691640" cy="381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15595" y="1737360"/>
            <a:ext cx="548640" cy="54864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33883" y="178308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395" y="2377440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500" b="1">
                <a:solidFill>
                  <a:srgbClr val="94A3B8"/>
                </a:solidFill>
                <a:latin typeface="Arial"/>
              </a:defRPr>
            </a:pPr>
            <a:r>
              <a:t>产品设计师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395" y="283464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招募中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395" y="3474720"/>
            <a:ext cx="1508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700" b="0">
                <a:solidFill>
                  <a:srgbClr val="64748B"/>
                </a:solidFill>
                <a:latin typeface="Arial"/>
              </a:defRPr>
            </a:pPr>
            <a:r>
              <a:t>可穿戴设备工业设计</a:t>
            </a:r>
            <a:br/>
            <a:r>
              <a:t>用户体验</a:t>
            </a:r>
            <a:br/>
            <a:r>
              <a:t>穿戴体验=留存关键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212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7DD3FC"/>
                </a:solidFill>
                <a:latin typeface="Arial"/>
              </a:defRPr>
            </a:pPr>
            <a:r>
              <a:t>学术合作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5623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94A3B8"/>
                </a:solidFill>
                <a:latin typeface="Arial"/>
              </a:defRPr>
            </a:pPr>
            <a:r>
              <a:t>CMU Bin He Lab (非侵入EEG运动解码) · NEU NeuMove Lab (肌骨仿真) · 清华/浙大/西湖大学 (BCI与神经工程)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59436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0">
                <a:solidFill>
                  <a:srgbClr val="94A3B8"/>
                </a:solidFill>
                <a:latin typeface="Arial"/>
              </a:defRPr>
            </a:pPr>
            <a:r>
              <a:t>杨朋昆 (清华统计系副教授, pFedAC共同作者) · 苏丽丽 (NEU助理教授, NSF CAREER, 联邦学习)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64748B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3200" b="1">
                <a:solidFill>
                  <a:srgbClr val="151D2E"/>
                </a:solidFill>
                <a:latin typeface="Arial"/>
              </a:defRPr>
            </a:pPr>
            <a:r>
              <a:t>融资路线：每轮对应可验证里程碑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6459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Arial"/>
              </a:defRPr>
            </a:pPr>
            <a:r>
              <a:t>种子轮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2026 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Arial"/>
              </a:defRPr>
            </a:pPr>
            <a:r>
              <a:t>¥800万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原型2台(¥200万) + 团队8人12月(¥300万)</a:t>
            </a:r>
            <a:br/>
            <a:r>
              <a:t>+ 预临床启动(¥200万) + 运营储备(¥100万)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产出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074920"/>
            <a:ext cx="2377440" cy="960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94A3B8"/>
                </a:solidFill>
                <a:latin typeface="Arial"/>
              </a:defRPr>
            </a:pPr>
            <a:r>
              <a:t>可演示原型 · 3家医院预临床协议 · NMPA分类界定申请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Arial"/>
              </a:defRPr>
            </a:pPr>
            <a:r>
              <a:t>天使轮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2027 Q1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Arial"/>
              </a:defRPr>
            </a:pPr>
            <a:r>
              <a:t>¥2,500万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用途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10台样机(¥500万) + 团队12人18月(¥800万)</a:t>
            </a:r>
            <a:br/>
            <a:r>
              <a:t>+ 30例预临床(¥600万) + NMPA申报(¥300万)</a:t>
            </a:r>
            <a:br/>
            <a:r>
              <a:t>+ 运营储备(¥300万)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产出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5074920"/>
            <a:ext cx="2377440" cy="960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94A3B8"/>
                </a:solidFill>
                <a:latin typeface="Arial"/>
              </a:defRPr>
            </a:pPr>
            <a:r>
              <a:t>预临床数据发表 · NMPA创新器械正式受理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Arial"/>
              </a:defRPr>
            </a:pPr>
            <a:r>
              <a:t>Pre-A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2028 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Arial"/>
              </a:defRPr>
            </a:pPr>
            <a:r>
              <a:t>$7M (≈¥5,000万)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用途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量产备货(¥2,000万) + 50家医院渠道(¥1,500万)</a:t>
            </a:r>
            <a:br/>
            <a:r>
              <a:t>+ Home版发布(¥1,000万) + 团队30人(¥500万)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产出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5074920"/>
            <a:ext cx="2377440" cy="960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94A3B8"/>
                </a:solidFill>
                <a:latin typeface="Arial"/>
              </a:defRPr>
            </a:pPr>
            <a:r>
              <a:t>NMPA获批 · 首批商业化交付 · 年收入$2.8M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1645920"/>
            <a:ext cx="2560320" cy="4572000"/>
          </a:xfrm>
          <a:prstGeom prst="roundRect">
            <a:avLst>
              <a:gd name="adj" fmla="val 3000"/>
            </a:avLst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20" y="1645920"/>
            <a:ext cx="2560320" cy="381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9828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0096F0"/>
                </a:solidFill>
                <a:latin typeface="Arial"/>
              </a:defRPr>
            </a:pPr>
            <a:r>
              <a:t>A轮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2103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2029 H2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2423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2800" b="1">
                <a:solidFill>
                  <a:srgbClr val="151D2E"/>
                </a:solidFill>
                <a:latin typeface="Arial"/>
              </a:defRPr>
            </a:pPr>
            <a:r>
              <a:t>$20M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35440" y="2926080"/>
            <a:ext cx="2011680" cy="127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28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用途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3383280"/>
            <a:ext cx="2286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0">
                <a:solidFill>
                  <a:srgbClr val="64748B"/>
                </a:solidFill>
                <a:latin typeface="Arial"/>
              </a:defRPr>
            </a:pPr>
            <a:r>
              <a:t>FDA 510(k) + CE申报 + 海外渠道建设</a:t>
            </a:r>
            <a:br/>
            <a:r>
              <a:t>+ 规模化生产 + 团队50人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900" b="1">
                <a:solidFill>
                  <a:srgbClr val="0096F0"/>
                </a:solidFill>
                <a:latin typeface="Arial"/>
              </a:defRPr>
            </a:pPr>
            <a:r>
              <a:t>产出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2560" y="5074920"/>
            <a:ext cx="2377440" cy="96012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51206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800" b="1">
                <a:solidFill>
                  <a:srgbClr val="7DD3FC"/>
                </a:solidFill>
                <a:latin typeface="Arial"/>
              </a:defRPr>
            </a:pPr>
            <a:r>
              <a:t>海外准入 · 年销过千台 · 盈亏平衡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200" b="1">
                <a:solidFill>
                  <a:srgbClr val="0096F0"/>
                </a:solidFill>
                <a:latin typeface="Arial"/>
              </a:defRPr>
            </a:pPr>
            <a:r>
              <a:t>当前：种子轮¥800万寻找领投方。12个月可验证的技术里程碑 → 原型可演示 → 预临床数据 → 为天使轮¥2,500万建立定价基础。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F1A"/>
              </a:gs>
              <a:gs pos="100000">
                <a:srgbClr val="00205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2400" b="0">
                <a:solidFill>
                  <a:srgbClr val="FFFFFF"/>
                </a:solidFill>
                <a:latin typeface="Arial"/>
              </a:defRPr>
            </a:pPr>
            <a:r>
              <a:t>2026年，AI从数字世界进入了物理世界。</a:t>
            </a:r>
            <a:br/>
            <a:r>
              <a:t>逐念而行专注于其中尚未被充分探索的方向——</a:t>
            </a:r>
            <a:br/>
            <a:r>
              <a:t>让AI理解人的身体，而不只是造AI的机器身体。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25400"/>
          </a:xfrm>
          <a:prstGeom prst="rect">
            <a:avLst/>
          </a:prstGeom>
          <a:solidFill>
            <a:srgbClr val="009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96F0"/>
                </a:solidFill>
                <a:latin typeface="Arial"/>
              </a:defRPr>
            </a:pPr>
            <a:r>
              <a:t>2026–2028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定义品类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3291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100家医院 · 30例预临床 → 200例上市后研究</a:t>
            </a:r>
            <a:br/>
            <a:r>
              <a:t>临床论文 → 进入康复指南</a:t>
            </a:r>
            <a:br/>
            <a:r>
              <a:t>让"人机共生"出现在顶级期刊和政策文件中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96F0"/>
                </a:solidFill>
                <a:latin typeface="Arial"/>
              </a:defRPr>
            </a:pPr>
            <a:r>
              <a:t>2029–2030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品类扩展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43434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医院→家庭闭环 · 从神经重连到通用意图驱动助力</a:t>
            </a:r>
            <a:br/>
            <a:r>
              <a:t>中国3亿60+老人，老年行动力市场</a:t>
            </a:r>
            <a:br/>
            <a:r>
              <a:t>启动FDA + CE，海外准入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0096F0"/>
                </a:solidFill>
                <a:latin typeface="Arial"/>
              </a:defRPr>
            </a:pPr>
            <a:r>
              <a:t>2031+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成为基础设施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539496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94A3B8"/>
                </a:solidFill>
                <a:latin typeface="Arial"/>
              </a:defRPr>
            </a:pPr>
            <a:r>
              <a:t>百万用户 · 从修复到增强</a:t>
            </a:r>
            <a:br/>
            <a:r>
              <a:t>户外运动 · 都市通勤 · 职业防护</a:t>
            </a:r>
            <a:br/>
            <a:r>
              <a:t>人机共生像智能手机一样成为日常生活一部分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715000"/>
            <a:ext cx="7589520" cy="868680"/>
          </a:xfrm>
          <a:prstGeom prst="rect">
            <a:avLst/>
          </a:prstGeom>
          <a:solidFill>
            <a:srgbClr val="15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5806440"/>
            <a:ext cx="7223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逐念而行 · Nexum  |  人机共生赛道定义者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6217920"/>
            <a:ext cx="7223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7DD3FC"/>
                </a:solidFill>
                <a:latin typeface="Arial"/>
              </a:defRPr>
            </a:pPr>
            <a:r>
              <a:t>赵子睿  ·  zirui@nexum.ai  ·  Columbia EE MSc  ·  种子轮 ¥800万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