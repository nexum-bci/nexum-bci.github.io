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306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Inter"/>
              </a:defRPr>
            </a:pPr>
            <a:r>
              <a:t>逐念而行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80D0FF"/>
                </a:solidFill>
                <a:latin typeface="Inter"/>
              </a:defRPr>
            </a:pPr>
            <a:r>
              <a:t>神经重连AI系统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13716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CCEE"/>
                </a:solidFill>
                <a:latin typeface="Inter"/>
              </a:defRPr>
            </a:pPr>
            <a:r>
              <a:t>人机共生 · 从大脑到肌肉的AI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Inter"/>
              </a:defRPr>
            </a:pPr>
            <a:r>
              <a:t>赵子睿 · 创始人 &amp; CEO · 2026年6月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6677"/>
                </a:solidFill>
                <a:latin typeface="Inter"/>
              </a:defRPr>
            </a:pPr>
            <a:r>
              <a:t>Confidential — For Investor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问题：9400万人被困在神经损伤里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37160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11111"/>
                </a:solidFill>
                <a:latin typeface="Inter"/>
              </a:defRPr>
            </a:pPr>
            <a:r>
              <a:t>全球9400万中风幸存者，年新发1200万</a:t>
            </a:r>
          </a:p>
          <a:p>
            <a:pPr>
              <a:spcAft>
                <a:spcPts val="800"/>
              </a:spcAft>
              <a:defRPr sz="1300" b="0">
                <a:solidFill>
                  <a:srgbClr val="111111"/>
                </a:solidFill>
                <a:latin typeface="Inter"/>
              </a:defRPr>
            </a:pPr>
          </a:p>
          <a:p>
            <a:pPr>
              <a:spcAft>
                <a:spcPts val="800"/>
              </a:spcAft>
              <a:defRPr sz="1300" b="0">
                <a:solidFill>
                  <a:srgbClr val="666666"/>
                </a:solidFill>
                <a:latin typeface="Inter"/>
              </a:defRPr>
            </a:pPr>
            <a:r>
              <a:t>其中66%存在步行功能障碍——大脑还记得怎么走，但指令传不到肌肉</a:t>
            </a:r>
          </a:p>
          <a:p>
            <a:pPr>
              <a:spcAft>
                <a:spcPts val="800"/>
              </a:spcAft>
              <a:defRPr sz="1300" b="0">
                <a:solidFill>
                  <a:srgbClr val="111111"/>
                </a:solidFill>
                <a:latin typeface="Inter"/>
              </a:defRPr>
            </a:pPr>
          </a:p>
          <a:p>
            <a:pPr>
              <a:spcAft>
                <a:spcPts val="800"/>
              </a:spcAft>
              <a:defRPr sz="1300" b="1">
                <a:solidFill>
                  <a:srgbClr val="111111"/>
                </a:solidFill>
                <a:latin typeface="Inter"/>
              </a:defRPr>
            </a:pPr>
            <a:r>
              <a:t>现有方案的困境：</a:t>
            </a:r>
          </a:p>
          <a:p>
            <a:pPr>
              <a:spcAft>
                <a:spcPts val="800"/>
              </a:spcAft>
              <a:defRPr sz="1300" b="0">
                <a:solidFill>
                  <a:srgbClr val="666666"/>
                </a:solidFill>
                <a:latin typeface="Inter"/>
              </a:defRPr>
            </a:pPr>
            <a:r>
              <a:t>外骨骼太重（12–25kg），穿戴痛苦，患者不愿使用</a:t>
            </a:r>
          </a:p>
          <a:p>
            <a:pPr>
              <a:spcAft>
                <a:spcPts val="800"/>
              </a:spcAft>
              <a:defRPr sz="1300" b="0">
                <a:solidFill>
                  <a:srgbClr val="666666"/>
                </a:solidFill>
                <a:latin typeface="Inter"/>
              </a:defRPr>
            </a:pPr>
            <a:r>
              <a:t>康复机器人依赖治疗师手动调参，中国每10万人仅3.6名康复治疗师</a:t>
            </a:r>
          </a:p>
          <a:p>
            <a:pPr>
              <a:spcAft>
                <a:spcPts val="800"/>
              </a:spcAft>
              <a:defRPr sz="1300" b="0">
                <a:solidFill>
                  <a:srgbClr val="666666"/>
                </a:solidFill>
                <a:latin typeface="Inter"/>
              </a:defRPr>
            </a:pPr>
            <a:r>
              <a:t>二十年硬件迭代未带来显著临床效果提升（SCIRE荟萃分析证实）</a:t>
            </a:r>
          </a:p>
          <a:p>
            <a:pPr>
              <a:spcAft>
                <a:spcPts val="800"/>
              </a:spcAft>
              <a:defRPr sz="1300" b="0">
                <a:solidFill>
                  <a:srgbClr val="666666"/>
                </a:solidFill>
                <a:latin typeface="Inter"/>
              </a:defRPr>
            </a:pPr>
            <a:r>
              <a:t>Ekso FY2025收入$12.8M，SG&amp;A占134%，连续两年下滑——硬件差异化已到尽头</a:t>
            </a:r>
          </a:p>
          <a:p>
            <a:pPr>
              <a:spcAft>
                <a:spcPts val="800"/>
              </a:spcAft>
              <a:defRPr sz="1300" b="0">
                <a:solidFill>
                  <a:srgbClr val="111111"/>
                </a:solidFill>
                <a:latin typeface="Inter"/>
              </a:defRPr>
            </a:pPr>
          </a:p>
          <a:p>
            <a:pPr>
              <a:spcAft>
                <a:spcPts val="800"/>
              </a:spcAft>
              <a:defRPr sz="1300" b="1">
                <a:solidFill>
                  <a:srgbClr val="0096F0"/>
                </a:solidFill>
                <a:latin typeface="Inter"/>
              </a:defRPr>
            </a:pPr>
            <a:r>
              <a:t>根本原因：所有人都在把神经损伤当成机械问题解决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1371600"/>
            <a:ext cx="914400" cy="20116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15544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F0"/>
                </a:solidFill>
                <a:latin typeface="Inter"/>
              </a:defRPr>
            </a:pPr>
            <a:r>
              <a:t>9400万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560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Inter"/>
              </a:defRPr>
            </a:pPr>
            <a:r>
              <a:t>全球中风</a:t>
            </a:r>
            <a:br/>
            <a:r>
              <a:t>幸存者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49840" y="1371600"/>
            <a:ext cx="914400" cy="20116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0" y="15544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F0"/>
                </a:solidFill>
                <a:latin typeface="Inter"/>
              </a:defRPr>
            </a:pPr>
            <a:r>
              <a:t>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2560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Inter"/>
              </a:defRPr>
            </a:pPr>
            <a:r>
              <a:t>步行功能</a:t>
            </a:r>
            <a:br/>
            <a:r>
              <a:t>障碍率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155680" y="1371600"/>
            <a:ext cx="914400" cy="20116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0" y="15544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F0"/>
                </a:solidFill>
                <a:latin typeface="Inter"/>
              </a:defRPr>
            </a:pPr>
            <a:r>
              <a:t>3.6/10万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2560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Inter"/>
              </a:defRPr>
            </a:pPr>
            <a:r>
              <a:t>中国康复</a:t>
            </a:r>
            <a:br/>
            <a:r>
              <a:t>治疗师密度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204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nter"/>
              </a:defRPr>
            </a:pPr>
            <a:r>
              <a:t>Nexum One：从大脑到肌肉的AI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3716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468880" cy="438912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0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Inter"/>
              </a:defRPr>
            </a:pPr>
            <a:r>
              <a:t>读取意图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EEG-Sense 8通道干电极头带</a:t>
            </a:r>
            <a:br/>
            <a:r>
              <a:t>检测运动准备电位</a:t>
            </a:r>
            <a:br/>
            <a:r>
              <a:t>非侵入，像运动头带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828800"/>
            <a:ext cx="2468880" cy="438912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8288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0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Inter"/>
              </a:defRPr>
            </a:pPr>
            <a:r>
              <a:t>生成策略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0040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个性化AI引擎</a:t>
            </a:r>
            <a:br/>
            <a:r>
              <a:t>416肌肉+206骨骼数字孪生</a:t>
            </a:r>
            <a:br/>
            <a:r>
              <a:t>每患者独立RL策略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828800"/>
            <a:ext cx="2468880" cy="438912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8288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0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Inter"/>
              </a:defRPr>
            </a:pPr>
            <a:r>
              <a:t>执行动作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0040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NeuroSuit混合架构</a:t>
            </a:r>
            <a:br/>
            <a:r>
              <a:t>碳纤维锚定+鲍登线缆驱动</a:t>
            </a:r>
            <a:br/>
            <a:r>
              <a:t>&lt;1.5kg，穿戴&lt;3分钟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828800"/>
            <a:ext cx="2468880" cy="438912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8288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0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651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Inter"/>
              </a:defRPr>
            </a:pPr>
            <a:r>
              <a:t>持续进化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20040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实时传感器反馈闭环</a:t>
            </a:r>
            <a:br/>
            <a:r>
              <a:t>策略每周自适应调整</a:t>
            </a:r>
            <a:br/>
            <a:r>
              <a:t>数据飞轮：越用越强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0D0FF"/>
                </a:solidFill>
                <a:latin typeface="Inter"/>
              </a:defRPr>
            </a:pPr>
            <a:r>
              <a:t>不卖硬件参数。卖的是AI对"你"的理解能力。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为什么是现在？四个条件同时就绪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37160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0"/>
                </a:solidFill>
                <a:latin typeface="Inter"/>
              </a:defRPr>
            </a:pPr>
            <a:r>
              <a:t>🧠  非侵入BCI</a:t>
            </a:r>
            <a:br/>
            <a:r>
              <a:t>达到可用精度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2103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CMU Bin He 2025 Nature Comms</a:t>
            </a:r>
            <a:br/>
            <a:r>
              <a:t>步态意图检测多篇独立验证</a:t>
            </a:r>
            <a:br/>
            <a:r>
              <a:t>湖北/江苏/浙江已定价¥960-966/次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46304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0"/>
                </a:solidFill>
                <a:latin typeface="Inter"/>
              </a:defRPr>
            </a:pPr>
            <a:r>
              <a:t>🤖  可穿戴硬件</a:t>
            </a:r>
            <a:br/>
            <a:r>
              <a:t>工程成熟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43200"/>
            <a:ext cx="2103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混合架构经十多年研发积累</a:t>
            </a:r>
            <a:br/>
            <a:r>
              <a:t>力传输效率&gt;70%，总重&lt;1.5kg</a:t>
            </a:r>
            <a:br/>
            <a:r>
              <a:t>线缆驱动临床安全性20年数据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0"/>
                </a:solidFill>
                <a:latin typeface="Inter"/>
              </a:defRPr>
            </a:pPr>
            <a:r>
              <a:t>⚡  个性化AI</a:t>
            </a:r>
            <a:br/>
            <a:r>
              <a:t>具备工程化条件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743200"/>
            <a:ext cx="2103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416肌肉+206骨骼+Hill柔顺肌腱</a:t>
            </a:r>
            <a:br/>
            <a:r>
              <a:t>2048仿真世界并行，日产53亿步态</a:t>
            </a:r>
            <a:br/>
            <a:r>
              <a:t>零人工标注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146304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645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0"/>
                </a:solidFill>
                <a:latin typeface="Inter"/>
              </a:defRPr>
            </a:pPr>
            <a:r>
              <a:t>📋  政策框架</a:t>
            </a:r>
            <a:br/>
            <a:r>
              <a:t>全面到位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743200"/>
            <a:ext cx="2103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中国脑机接口列入国家未来产业</a:t>
            </a:r>
            <a:br/>
            <a:r>
              <a:t>Medicare K1007 $91,032/台</a:t>
            </a:r>
            <a:br/>
            <a:r>
              <a:t>中美日德均已建立支付标准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F0"/>
                </a:solidFill>
                <a:latin typeface="Inter"/>
              </a:defRPr>
            </a:pPr>
            <a:r>
              <a:t>2026年，9400万人的问题从科学问题变成了工程问题。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Nexum One：首款神经重连AI系统</a:t>
            </a:r>
          </a:p>
        </p:txBody>
      </p:sp>
      <p:pic>
        <p:nvPicPr>
          <p:cNvPr id="4" name="Picture 3" descr="ppt_render_2_head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338328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931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111"/>
                </a:solidFill>
                <a:latin typeface="Inter"/>
              </a:defRPr>
            </a:pPr>
            <a:r>
              <a:t>EEG-Sense 头带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Inter"/>
              </a:defRPr>
            </a:pPr>
            <a:r>
              <a:t>8ch干电极 · 80g · BLE 5.0</a:t>
            </a:r>
            <a:br/>
            <a:r>
              <a:t>250SPS · 24-bit · ADS1299</a:t>
            </a:r>
          </a:p>
        </p:txBody>
      </p:sp>
      <p:pic>
        <p:nvPicPr>
          <p:cNvPr id="7" name="Picture 6" descr="ppt_render_3_s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188720"/>
            <a:ext cx="338328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97680" y="3931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111"/>
                </a:solidFill>
                <a:latin typeface="Inter"/>
              </a:defRPr>
            </a:pPr>
            <a:r>
              <a:t>NeuroSuit 穿戴界面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43891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Inter"/>
              </a:defRPr>
            </a:pPr>
            <a:r>
              <a:t>碳纤维锚定 · 鲍登线缆</a:t>
            </a:r>
            <a:br/>
            <a:r>
              <a:t>&lt;1.5kg · 8Nm持续/15Nm峰值</a:t>
            </a:r>
          </a:p>
        </p:txBody>
      </p:sp>
      <p:pic>
        <p:nvPicPr>
          <p:cNvPr id="10" name="Picture 9" descr="ppt_render_1_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188720"/>
            <a:ext cx="3383280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80" y="3931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111"/>
                </a:solidFill>
                <a:latin typeface="Inter"/>
              </a:defRPr>
            </a:pPr>
            <a:r>
              <a:t>Nexum One 完整系统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43891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Inter"/>
              </a:defRPr>
            </a:pPr>
            <a:r>
              <a:t>Clinical $18,000</a:t>
            </a:r>
            <a:br/>
            <a:r>
              <a:t>Home $3,999+$499/年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F0"/>
                </a:solidFill>
                <a:latin typeface="Inter"/>
              </a:defRPr>
            </a:pPr>
            <a:r>
              <a:t>两个版本，同一条数据链：Clinical版$18K（医院）+ Home版$3,999+$499/年（家用）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市场：三阶段TAM指数级扩大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37160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3832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3832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Inter"/>
              </a:defRPr>
            </a:pPr>
            <a:r>
              <a:t>Phase 1</a:t>
            </a:r>
            <a:br/>
            <a:r>
              <a:t>2028-2030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6F0"/>
                </a:solidFill>
                <a:latin typeface="Inter"/>
              </a:defRPr>
            </a:pPr>
            <a:r>
              <a:t>$6.6B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11111"/>
                </a:solidFill>
                <a:latin typeface="Inter"/>
              </a:defRPr>
            </a:pPr>
            <a:r>
              <a:t>全球神经康复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Inter"/>
              </a:defRPr>
            </a:pPr>
            <a:r>
              <a:t>9400万中风×66%障碍</a:t>
            </a:r>
            <a:br/>
            <a:r>
              <a:t>×30%适配×5%渗透×$3,999</a:t>
            </a:r>
            <a:br/>
            <a:r>
              <a:t>+8000家医院×10%×$18K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3832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3832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5544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Inter"/>
              </a:defRPr>
            </a:pPr>
            <a:r>
              <a:t>Phase 2</a:t>
            </a:r>
            <a:br/>
            <a:r>
              <a:t>2030-2033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945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6F0"/>
                </a:solidFill>
                <a:latin typeface="Inter"/>
              </a:defRPr>
            </a:pPr>
            <a:r>
              <a:t>$15B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08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11111"/>
                </a:solidFill>
                <a:latin typeface="Inter"/>
              </a:defRPr>
            </a:pPr>
            <a:r>
              <a:t>全球老年行动力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65760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Inter"/>
              </a:defRPr>
            </a:pPr>
            <a:r>
              <a:t>中国3亿60+人口</a:t>
            </a:r>
            <a:br/>
            <a:r>
              <a:t>×20%肌少症×3%渗透×¥5,000</a:t>
            </a:r>
            <a:br/>
            <a:r>
              <a:t>+美日欧老龄化市场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0" y="1371600"/>
            <a:ext cx="3383280" cy="47548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80" y="1371600"/>
            <a:ext cx="33832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5544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Inter"/>
              </a:defRPr>
            </a:pPr>
            <a:r>
              <a:t>Phase 3</a:t>
            </a:r>
            <a:br/>
            <a:r>
              <a:t>2033+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19456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6F0"/>
                </a:solidFill>
                <a:latin typeface="Inter"/>
              </a:defRPr>
            </a:pPr>
            <a:r>
              <a:t>$33.7B+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1089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11111"/>
                </a:solidFill>
                <a:latin typeface="Inter"/>
              </a:defRPr>
            </a:pPr>
            <a:r>
              <a:t>全人群行动增强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65760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Inter"/>
              </a:defRPr>
            </a:pPr>
            <a:r>
              <a:t>全球可穿戴外骨骼市场</a:t>
            </a:r>
            <a:br/>
            <a:r>
              <a:t>CAGR 32%</a:t>
            </a:r>
            <a:br/>
            <a:r>
              <a:t>户外/通勤/职业防护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0"/>
                </a:solidFill>
                <a:latin typeface="Inter"/>
              </a:defRPr>
            </a:pPr>
            <a:r>
              <a:t>已有市场：BCI $2.4B(15%) + 康复机器人 $1.8B(22%) + 外骨骼 $33.7B(32%)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00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医保已建立：Medicare $91K/台 · 中国BCI定价¥960-966/次 · HAL纳入日本医保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204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nter"/>
              </a:defRPr>
            </a:pPr>
            <a:r>
              <a:t>技术架构：四层闭环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3716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645920" cy="109728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0"/>
                </a:solidFill>
                <a:latin typeface="Inter"/>
              </a:defRPr>
            </a:pPr>
            <a:r>
              <a:t>感知层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Inter"/>
              </a:defRPr>
            </a:pPr>
            <a:r>
              <a:t>EEG + sEMG双模态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55448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8ch干电极头带 + 织物sEMG电极</a:t>
            </a:r>
            <a:br/>
            <a:r>
              <a:t>EEG覆盖肌力0-1级，sEMG逐步接管</a:t>
            </a:r>
            <a:br/>
            <a:r>
              <a:t>三级降级安全冗余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645920" cy="109728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0"/>
                </a:solidFill>
                <a:latin typeface="Inter"/>
              </a:defRPr>
            </a:pPr>
            <a:r>
              <a:t>决策层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Inter"/>
              </a:defRPr>
            </a:pPr>
            <a:r>
              <a:t>个性化AI引擎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83464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DL提取EEG特征 → MSK数字孪生建模</a:t>
            </a:r>
            <a:br/>
            <a:r>
              <a:t>→ RL训练最优策略 → 传统控制保安全</a:t>
            </a:r>
            <a:br/>
            <a:r>
              <a:t>每患者独立模型，每周自适应更新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23360"/>
            <a:ext cx="1645920" cy="109728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0"/>
                </a:solidFill>
                <a:latin typeface="Inter"/>
              </a:defRPr>
            </a:pPr>
            <a:r>
              <a:t>执行层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Inter"/>
              </a:defRPr>
            </a:pPr>
            <a:r>
              <a:t>混合式机械架构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1148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碳纤维髋部锚定(力传输&gt;70%)</a:t>
            </a:r>
            <a:br/>
            <a:r>
              <a:t>鲍登线缆驱动(关节处轻量化)</a:t>
            </a:r>
            <a:br/>
            <a:r>
              <a:t>标准化关节电机(扭矩密度40-50Nm/kg)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303520"/>
            <a:ext cx="1645920" cy="109728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0"/>
                </a:solidFill>
                <a:latin typeface="Inter"/>
              </a:defRPr>
            </a:pPr>
            <a:r>
              <a:t>进化层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Inter"/>
              </a:defRPr>
            </a:pPr>
            <a:r>
              <a:t>联邦学习数据飞轮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39496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BBCC"/>
                </a:solidFill>
                <a:latin typeface="Inter"/>
              </a:defRPr>
            </a:pPr>
            <a:r>
              <a:t>原始生理数据本地处理</a:t>
            </a:r>
            <a:br/>
            <a:r>
              <a:t>仅脱敏模型改善数据上传</a:t>
            </a:r>
            <a:br/>
            <a:r>
              <a:t>隐私保护+数据网络效应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竞争：我们在AI理解人的维度上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37160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1920240"/>
                <a:gridCol w="1920240"/>
                <a:gridCol w="192024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能力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逐念而行 Nexum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Ekso/ReWalk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HAL (Cyberdyne)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程天科技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111"/>
                          </a:solidFill>
                        </a:defRPr>
                      </a:pPr>
                      <a:r>
                        <a:t>EEG意图解码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✅ 8ch干电极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 (仅EMG)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✅ 多模态融合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111"/>
                          </a:solidFill>
                        </a:defRPr>
                      </a:pPr>
                      <a:r>
                        <a:t>MSK数字孪生+RL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✅ 416肌肉模型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111"/>
                          </a:solidFill>
                        </a:defRPr>
                      </a:pPr>
                      <a:r>
                        <a:t>联邦学习隐私保护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111"/>
                          </a:solidFill>
                        </a:defRPr>
                      </a:pPr>
                      <a:r>
                        <a:t>价格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$18K / $3,999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$75K–100K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$60K–80K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¥10万+(医院)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11111"/>
                          </a:solidFill>
                        </a:defRPr>
                      </a:pPr>
                      <a:r>
                        <a:t>核心差异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AI理解人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卖硬件参数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EMG灵敏度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666666"/>
                          </a:solidFill>
                        </a:defRPr>
                      </a:pPr>
                      <a:r>
                        <a:t>硬件集成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0"/>
                </a:solidFill>
                <a:latin typeface="Inter"/>
              </a:defRPr>
            </a:pPr>
            <a:r>
              <a:t>关键差异：Ekso/ReWalk/HAL是硬件公司——每多卖一台，不会变得更聪明。逐念而行每多一个患者，AI就更强一分。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商业模式与财务预测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37160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371600"/>
                <a:gridCol w="1097280"/>
                <a:gridCol w="1097280"/>
                <a:gridCol w="1097280"/>
                <a:gridCol w="1005840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年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Clinical(台)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Home(台)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总收入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净利润</a:t>
                      </a:r>
                    </a:p>
                  </a:txBody>
                  <a:tcPr>
                    <a:solidFill>
                      <a:srgbClr val="0096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—（预临床）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-$2.5M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150×$16K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100×$4K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$2.8M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-$2.0M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400×$15K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500×$3.8K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$7.9M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58%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-$0.5M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1,000×$14K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2,000×$3.5K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$21.0M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$3.0M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2031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2,500×$13K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8,000×$3.2K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$58.1M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666666"/>
                          </a:solidFill>
                        </a:defRPr>
                      </a:pPr>
                      <a:r>
                        <a:t>68%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666666"/>
                          </a:solidFill>
                        </a:defRPr>
                      </a:pPr>
                      <a:r>
                        <a:t>$15.0M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371600"/>
            <a:ext cx="3931920" cy="50292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0"/>
                </a:solidFill>
                <a:latin typeface="Inter"/>
              </a:defRPr>
            </a:pPr>
            <a:r>
              <a:t>商业里程碑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2103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96F0"/>
                </a:solidFill>
                <a:latin typeface="Inter"/>
              </a:defRPr>
            </a:pPr>
            <a:r>
              <a:t>2026 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种子轮 ¥800万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560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96F0"/>
                </a:solidFill>
                <a:latin typeface="Inter"/>
              </a:defRPr>
            </a:pPr>
            <a:r>
              <a:t>2027 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5603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天使轮 ¥2,500万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3017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96F0"/>
                </a:solidFill>
                <a:latin typeface="Inter"/>
              </a:defRPr>
            </a:pPr>
            <a:r>
              <a:t>2028 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017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Pre-A $7M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474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96F0"/>
                </a:solidFill>
                <a:latin typeface="Inter"/>
              </a:defRPr>
            </a:pPr>
            <a:r>
              <a:t>2028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474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NMPA获批 · 首批交付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3931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96F0"/>
                </a:solidFill>
                <a:latin typeface="Inter"/>
              </a:defRPr>
            </a:pPr>
            <a:r>
              <a:t>2029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盈亏平衡 · ~700台/年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4389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96F0"/>
                </a:solidFill>
                <a:latin typeface="Inter"/>
              </a:defRPr>
            </a:pPr>
            <a:r>
              <a:t>2030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43891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A轮$20M · FDA+CE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Inter"/>
              </a:defRPr>
            </a:pPr>
            <a:r>
              <a:t>盈亏平衡：~700台/年（2029 Q4–2030 Q1）</a:t>
            </a:r>
            <a:br/>
            <a:r>
              <a:t>Home版BOM约¥3,000，毛利与Ekso(53%)可比但S&amp;M仅30%(vs 40-70%)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204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nter"/>
              </a:defRPr>
            </a:pPr>
            <a:r>
              <a:t>团队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468880" cy="329184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Inter"/>
              </a:defRPr>
            </a:pPr>
            <a:r>
              <a:t>赵子睿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96F0"/>
                </a:solidFill>
                <a:latin typeface="Inter"/>
              </a:defRPr>
            </a:pPr>
            <a:r>
              <a:t>创始人 &amp; 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Inter"/>
              </a:defRPr>
            </a:pPr>
            <a:r>
              <a:t>Columbia EE MSc (ML)</a:t>
            </a:r>
            <a:br/>
            <a:r>
              <a:t>华为美国Futurewei IoT Lab</a:t>
            </a:r>
            <a:br/>
            <a:r>
              <a:t>8年CTO (欣网/智擎机器人)</a:t>
            </a:r>
            <a:br/>
            <a:r>
              <a:t>FAI患者——产品原动力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554480"/>
            <a:ext cx="2468880" cy="329184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737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Inter"/>
              </a:defRPr>
            </a:pPr>
            <a:r>
              <a:t>汪牧星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96F0"/>
                </a:solidFill>
                <a:latin typeface="Inter"/>
              </a:defRPr>
            </a:pPr>
            <a:r>
              <a:t>算法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7432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Inter"/>
              </a:defRPr>
            </a:pPr>
            <a:r>
              <a:t>NEU PhD Candidate</a:t>
            </a:r>
            <a:br/>
            <a:r>
              <a:t>Edinburgh MSc Distinction</a:t>
            </a:r>
            <a:br/>
            <a:r>
              <a:t>pFedAC第一作者</a:t>
            </a:r>
            <a:br/>
            <a:r>
              <a:t>联邦学习/个性化AI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554480"/>
            <a:ext cx="2468880" cy="329184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554480"/>
            <a:ext cx="2468880" cy="381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737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66666"/>
                </a:solidFill>
                <a:latin typeface="Inter"/>
              </a:defRPr>
            </a:pPr>
            <a:r>
              <a:t>临床负责人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Inter"/>
              </a:defRPr>
            </a:pPr>
            <a:r>
              <a:t>招募中 · 优先级最高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432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Inter"/>
              </a:defRPr>
            </a:pPr>
            <a:r>
              <a:t>康复医学主任医师</a:t>
            </a:r>
            <a:br/>
            <a:r>
              <a:t>临床试验设计与执行</a:t>
            </a:r>
            <a:br/>
            <a:r>
              <a:t>NMPA方案撰写经验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554480"/>
            <a:ext cx="2468880" cy="329184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554480"/>
            <a:ext cx="2468880" cy="381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737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66666"/>
                </a:solidFill>
                <a:latin typeface="Inter"/>
              </a:defRPr>
            </a:pPr>
            <a:r>
              <a:t>EEG硬件负责人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Inter"/>
              </a:defRPr>
            </a:pPr>
            <a:r>
              <a:t>招募中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74320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BBCC"/>
                </a:solidFill>
                <a:latin typeface="Inter"/>
              </a:defRPr>
            </a:pPr>
            <a:r>
              <a:t>脑电采集系统设计</a:t>
            </a:r>
            <a:br/>
            <a:r>
              <a:t>TI ADS1299方案经验</a:t>
            </a:r>
            <a:br/>
            <a:r>
              <a:t>干电极优化+产品化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0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D0FF"/>
                </a:solidFill>
                <a:latin typeface="Inter"/>
              </a:defRPr>
            </a:pPr>
            <a:r>
              <a:t>学术合作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BBCC"/>
                </a:solidFill>
                <a:latin typeface="Inter"/>
              </a:defRPr>
            </a:pPr>
            <a:r>
              <a:t>CMU Bin He Lab (非侵入EEG) · NEU NeuMove Lab (肌骨仿真) · 清华/浙大/西湖大学 (BCI与神经工程)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融资路线：每轮对应可验证里程碑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137160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F0"/>
                </a:solidFill>
                <a:latin typeface="Inter"/>
              </a:defRPr>
            </a:pPr>
            <a:r>
              <a:t>种子轮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Inter"/>
              </a:defRPr>
            </a:pPr>
            <a:r>
              <a:t>2026 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111"/>
                </a:solidFill>
                <a:latin typeface="Inter"/>
              </a:defRPr>
            </a:pPr>
            <a:r>
              <a:t>¥800万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原型2台 + 团队8人12月</a:t>
            </a:r>
            <a:br/>
            <a:r>
              <a:t>3家医院预临床协议</a:t>
            </a:r>
            <a:br/>
            <a:r>
              <a:t>可演示原型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F0"/>
                </a:solidFill>
                <a:latin typeface="Inter"/>
              </a:defRPr>
            </a:pPr>
            <a:r>
              <a:t>天使轮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Inter"/>
              </a:defRPr>
            </a:pPr>
            <a:r>
              <a:t>2027 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111"/>
                </a:solidFill>
                <a:latin typeface="Inter"/>
              </a:defRPr>
            </a:pPr>
            <a:r>
              <a:t>¥2,500万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10896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10台样机 + 30例预临床</a:t>
            </a:r>
            <a:br/>
            <a:r>
              <a:t>NMPA正式受理</a:t>
            </a:r>
            <a:br/>
            <a:r>
              <a:t>预临床数据发表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371600"/>
            <a:ext cx="2468880" cy="4754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3716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F0"/>
                </a:solidFill>
                <a:latin typeface="Inter"/>
              </a:defRPr>
            </a:pPr>
            <a:r>
              <a:t>Pre-A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Inter"/>
              </a:defRPr>
            </a:pPr>
            <a:r>
              <a:t>2028 Q1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111"/>
                </a:solidFill>
                <a:latin typeface="Inter"/>
              </a:defRPr>
            </a:pPr>
            <a:r>
              <a:t>$7M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10896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NMPA获批 + 首批商业化</a:t>
            </a:r>
            <a:br/>
            <a:r>
              <a:t>50家医院渠道</a:t>
            </a:r>
            <a:br/>
            <a:r>
              <a:t>Home版发布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1371600"/>
            <a:ext cx="2468880" cy="47548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9680" y="1371600"/>
            <a:ext cx="246888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F0"/>
                </a:solidFill>
                <a:latin typeface="Inter"/>
              </a:defRPr>
            </a:pPr>
            <a:r>
              <a:t>A轮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Inter"/>
              </a:defRPr>
            </a:pPr>
            <a:r>
              <a:t>2029 H2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377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111"/>
                </a:solidFill>
                <a:latin typeface="Inter"/>
              </a:defRPr>
            </a:pPr>
            <a:r>
              <a:t>$20M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108960"/>
            <a:ext cx="2103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Inter"/>
              </a:defRPr>
            </a:pPr>
            <a:r>
              <a:t>FDA 510(k) + CE</a:t>
            </a:r>
            <a:br/>
            <a:r>
              <a:t>海外渠道 + 规模化</a:t>
            </a:r>
            <a:br/>
            <a:r>
              <a:t>年销过千台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F0"/>
                </a:solidFill>
                <a:latin typeface="Inter"/>
              </a:defRPr>
            </a:pPr>
            <a:r>
              <a:t>种子轮¥800万寻找领投方。资金用于原型验证和预临床启动——12个月可验证的技术里程碑。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306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Inter"/>
              </a:defRPr>
            </a:pPr>
            <a:r>
              <a:t>2026年，AI从数字世界进入了物理世界。</a:t>
            </a:r>
            <a:br/>
            <a:r>
              <a:t>逐念而行专注于其中尚未被充分探索的方向——</a:t>
            </a:r>
            <a:br/>
            <a:r>
              <a:t>让AI理解人的身体，而不只是造AI的机器身体。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743200"/>
            <a:ext cx="210312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0D0FF"/>
                </a:solidFill>
                <a:latin typeface="Inter"/>
              </a:defRPr>
            </a:pPr>
            <a:r>
              <a:t>1. 2026-2028：定义品类，从最难的地方开始。Nexum One进入100家康复医院。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Inter"/>
              </a:defRPr>
            </a:pPr>
            <a:r>
              <a:t>2. 2029-2030：品类扩展，从患者到老人。从神经重连到通用意图驱动助力。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CCEE"/>
                </a:solidFill>
                <a:latin typeface="Inter"/>
              </a:defRPr>
            </a:pPr>
            <a:r>
              <a:t>3. 2031+：人机共生成为基础设施。百万用户。从修复到增强，从患者到每一个人。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760720"/>
            <a:ext cx="5760720" cy="82296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5852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Inter"/>
              </a:defRPr>
            </a:pPr>
            <a:r>
              <a:t>逐念而行 · Nexum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6217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0D0FF"/>
                </a:solidFill>
                <a:latin typeface="Inter"/>
              </a:defRPr>
            </a:pPr>
            <a:r>
              <a:t>赵子睿 · zirui@nexum.ai · 人机共生赛道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